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Call types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5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E13-46A7-B5B8-070EFBD230AA}"/>
              </c:ext>
            </c:extLst>
          </c:dPt>
          <c:dPt>
            <c:idx val="1"/>
            <c:bubble3D val="0"/>
            <c:spPr>
              <a:solidFill>
                <a:srgbClr val="FAA4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E13-46A7-B5B8-070EFBD230AA}"/>
              </c:ext>
            </c:extLst>
          </c:dPt>
          <c:dPt>
            <c:idx val="2"/>
            <c:bubble3D val="0"/>
            <c:spPr>
              <a:solidFill>
                <a:srgbClr val="60BD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E13-46A7-B5B8-070EFBD230AA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E13-46A7-B5B8-070EFBD230AA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E13-46A7-B5B8-070EFBD230AA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E13-46A7-B5B8-070EFBD230AA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Support</c:v>
                </c:pt>
                <c:pt idx="1">
                  <c:v>External</c:v>
                </c:pt>
                <c:pt idx="2">
                  <c:v>Internal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35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E13-46A7-B5B8-070EFBD230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Transcripts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Support</c:v>
                </c:pt>
                <c:pt idx="1">
                  <c:v>External</c:v>
                </c:pt>
                <c:pt idx="2">
                  <c:v>Internal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35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DC-4366-B0BF-55A372A9AE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Transcript count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Product bugs
&amp; reliability</c:v>
                </c:pt>
                <c:pt idx="1">
                  <c:v>Compliance
&amp; audit</c:v>
                </c:pt>
                <c:pt idx="2">
                  <c:v>Renewal
&amp; risk</c:v>
                </c:pt>
                <c:pt idx="3">
                  <c:v>Internal
planning</c:v>
                </c:pt>
                <c:pt idx="4">
                  <c:v>Feature
requests</c:v>
                </c:pt>
                <c:pt idx="5">
                  <c:v>Onboarding
&amp; adoption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</c:v>
                </c:pt>
                <c:pt idx="1">
                  <c:v>25</c:v>
                </c:pt>
                <c:pt idx="2">
                  <c:v>16</c:v>
                </c:pt>
                <c:pt idx="3">
                  <c:v>8</c:v>
                </c:pt>
                <c:pt idx="4">
                  <c:v>6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DA-4FC1-BA0C-E4C6E912A9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7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Support</c:v>
                </c:pt>
                <c:pt idx="1">
                  <c:v>External</c:v>
                </c:pt>
                <c:pt idx="2">
                  <c:v>Internal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</c:v>
                </c:pt>
                <c:pt idx="1">
                  <c:v>28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68-458A-A40A-63816771367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Support</c:v>
                </c:pt>
                <c:pt idx="1">
                  <c:v>External</c:v>
                </c:pt>
                <c:pt idx="2">
                  <c:v>Internal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68-458A-A40A-63816771367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Support</c:v>
                </c:pt>
                <c:pt idx="1">
                  <c:v>External</c:v>
                </c:pt>
                <c:pt idx="2">
                  <c:v>Internal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19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B68-458A-A40A-6381677136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sentiment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Compliance
&amp; audit</c:v>
                </c:pt>
                <c:pt idx="1">
                  <c:v>Internal
planning</c:v>
                </c:pt>
                <c:pt idx="2">
                  <c:v>Renewal
&amp; risk</c:v>
                </c:pt>
                <c:pt idx="3">
                  <c:v>Feature
requests</c:v>
                </c:pt>
                <c:pt idx="4">
                  <c:v>Product bugs
&amp; reliability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0.34</c:v>
                </c:pt>
                <c:pt idx="1">
                  <c:v>0.21</c:v>
                </c:pt>
                <c:pt idx="2">
                  <c:v>0.16</c:v>
                </c:pt>
                <c:pt idx="3">
                  <c:v>0.11</c:v>
                </c:pt>
                <c:pt idx="4">
                  <c:v>-0.12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0B-4EDC-B878-A76A1F2CDC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  <c:min val="-0.2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Alerting
&amp; escalation</c:v>
                </c:pt>
                <c:pt idx="1">
                  <c:v>Export
&amp; reporting</c:v>
                </c:pt>
                <c:pt idx="2">
                  <c:v>Dashboards
&amp; analytics</c:v>
                </c:pt>
                <c:pt idx="3">
                  <c:v>Onboarding
&amp; docs</c:v>
                </c:pt>
                <c:pt idx="4">
                  <c:v>Integration
&amp; API</c:v>
                </c:pt>
                <c:pt idx="5">
                  <c:v>Backup
controls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</c:v>
                </c:pt>
                <c:pt idx="1">
                  <c:v>77</c:v>
                </c:pt>
                <c:pt idx="2">
                  <c:v>67</c:v>
                </c:pt>
                <c:pt idx="3">
                  <c:v>59</c:v>
                </c:pt>
                <c:pt idx="4">
                  <c:v>52</c:v>
                </c:pt>
                <c:pt idx="5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21-457F-8397-C9AB9A9F65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1507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37960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65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Transcript Intelligence | Take-home assignment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594360"/>
            <a:ext cx="324612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804672"/>
            <a:ext cx="20574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58368"/>
            <a:ext cx="2148840" cy="256032"/>
          </a:xfrm>
          <a:prstGeom prst="roundRect">
            <a:avLst>
              <a:gd name="adj" fmla="val 28571"/>
            </a:avLst>
          </a:prstGeom>
          <a:solidFill>
            <a:srgbClr val="0F766E">
              <a:alpha val="95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722376"/>
            <a:ext cx="2002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70" b="1" dirty="0">
                <a:solidFill>
                  <a:srgbClr val="FFFFFF"/>
                </a:solidFill>
              </a:rPr>
              <a:t>PRODUCT + ENGINEERING LEADERSHIP</a:t>
            </a:r>
            <a:endParaRPr lang="en-US" sz="67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64922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Transcript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Intelligence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04088" y="2852928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BD5E1"/>
                </a:solidFill>
              </a:rPr>
              <a:t>Turning call transcripts into decision-ready product, support, and revenue signals.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065776"/>
            <a:ext cx="4023360" cy="859536"/>
          </a:xfrm>
          <a:prstGeom prst="roundRect">
            <a:avLst>
              <a:gd name="adj" fmla="val 8511"/>
            </a:avLst>
          </a:prstGeom>
          <a:solidFill>
            <a:srgbClr val="111C32"/>
          </a:solidFill>
          <a:ln w="8890">
            <a:solidFill>
              <a:srgbClr val="2336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52852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CBD5E1"/>
                </a:solidFill>
              </a:rPr>
              <a:t>Take-home assignment prototype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7543800" y="47731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543800" y="52029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475569"/>
                </a:solidFill>
              </a:rPr>
              <a:t>transcripts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8997696" y="47731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997696" y="52029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475569"/>
                </a:solidFill>
              </a:rPr>
              <a:t>business themes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10314432" y="47731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314432" y="5202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475569"/>
                </a:solidFill>
              </a:rPr>
              <a:t>slides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7543800" y="5687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94A3B8"/>
                </a:solidFill>
              </a:rPr>
              <a:t>Validated pipeline + notebook + deck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prototype that converts raw transcripts into action-ready signals.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561320" y="347472"/>
            <a:ext cx="109728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344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1664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475569"/>
                </a:solidFill>
              </a:rPr>
              <a:t>transcripts processed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2651760" y="12344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651760" y="16642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475569"/>
                </a:solidFill>
              </a:rPr>
              <a:t>support calls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4370832" y="12344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370832" y="16642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475569"/>
                </a:solidFill>
              </a:rPr>
              <a:t>external calls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6062472" y="12344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062472" y="16642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475569"/>
                </a:solidFill>
              </a:rPr>
              <a:t>internal calls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685800" y="24231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" y="2569464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EF4444"/>
                </a:solidFill>
              </a:rPr>
              <a:t>1. Support is the clearest risk surface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886968" y="2898648"/>
            <a:ext cx="311810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Negative sentiment concentrates around outage, SLA and reliability language. This is both a support burden and a product trust problem.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407408" y="24231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08576" y="2569464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10B981"/>
                </a:solidFill>
              </a:rPr>
              <a:t>2. External calls reveal revenue context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4608576" y="2898648"/>
            <a:ext cx="311810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Renewal, pricing, expansion and competitor signals appear in customer-facing conversations before they become CRM outcomes.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138160" y="24231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39328" y="2569464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7C3AED"/>
                </a:solidFill>
              </a:rPr>
              <a:t>3. Internal calls expose alignment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8339328" y="2898648"/>
            <a:ext cx="311810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Engineering discussions can be compared with customer-facing pain points to see whether execution is aligned to business risk.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13232" y="4251960"/>
            <a:ext cx="10927080" cy="1143000"/>
          </a:xfrm>
          <a:prstGeom prst="roundRect">
            <a:avLst>
              <a:gd name="adj" fmla="val 64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489704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FFFFFF"/>
                </a:solidFill>
              </a:rPr>
              <a:t>Recommendation: operationalize escalation risk, route product feedback into PM review, and create stakeholder-specific views for support, product, sales and engineering.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prototype enables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can move from anecdotal call review to repeatable signal detection.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561320" y="347472"/>
            <a:ext cx="109728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1783080" cy="2423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764792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81912" y="1920240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23544" y="2542032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11827"/>
                </a:solidFill>
              </a:rPr>
              <a:t>Raw folders</a:t>
            </a:r>
            <a:endParaRPr lang="en-US" sz="1060" dirty="0"/>
          </a:p>
        </p:txBody>
      </p:sp>
      <p:sp>
        <p:nvSpPr>
          <p:cNvPr id="9" name="Text 7"/>
          <p:cNvSpPr/>
          <p:nvPr/>
        </p:nvSpPr>
        <p:spPr>
          <a:xfrm>
            <a:off x="941832" y="288950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Nested JSON transcripts, metadata, speaker turns and summaries.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87752" y="2450592"/>
            <a:ext cx="292608" cy="5029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71800" y="1508760"/>
            <a:ext cx="1783080" cy="2423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0" y="1764792"/>
            <a:ext cx="594360" cy="5943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76472" y="1920240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18104" y="2542032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11827"/>
                </a:solidFill>
              </a:rPr>
              <a:t>Structured dataset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3136392" y="288950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One transcript-level row with call type, account clues and clean text.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82312" y="2450592"/>
            <a:ext cx="292608" cy="5029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66360" y="1508760"/>
            <a:ext cx="1783080" cy="2423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60720" y="1764792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71032" y="1920240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12664" y="2542032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11827"/>
                </a:solidFill>
              </a:rPr>
              <a:t>Theme + sentiment</a:t>
            </a:r>
            <a:endParaRPr lang="en-US" sz="1060" dirty="0"/>
          </a:p>
        </p:txBody>
      </p:sp>
      <p:sp>
        <p:nvSpPr>
          <p:cNvPr id="21" name="Text 19"/>
          <p:cNvSpPr/>
          <p:nvPr/>
        </p:nvSpPr>
        <p:spPr>
          <a:xfrm>
            <a:off x="5330952" y="288950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Business themes, sentiment labels and trend summaries.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976872" y="2450592"/>
            <a:ext cx="292608" cy="5029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60920" y="1508760"/>
            <a:ext cx="1783080" cy="2423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55280" y="1764792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65592" y="1920240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07224" y="2542032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11827"/>
                </a:solidFill>
              </a:rPr>
              <a:t>Insight layer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7525512" y="288950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Risk queues, feature asks, churn signals and stakeholder views.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171432" y="2450592"/>
            <a:ext cx="292608" cy="50292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55480" y="1508760"/>
            <a:ext cx="1783080" cy="242316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149840" y="1764792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60152" y="1920240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701784" y="2542032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11827"/>
                </a:solidFill>
              </a:rPr>
              <a:t>Decision workflows</a:t>
            </a:r>
            <a:endParaRPr lang="en-US" sz="1060" dirty="0"/>
          </a:p>
        </p:txBody>
      </p:sp>
      <p:sp>
        <p:nvSpPr>
          <p:cNvPr id="33" name="Text 31"/>
          <p:cNvSpPr/>
          <p:nvPr/>
        </p:nvSpPr>
        <p:spPr>
          <a:xfrm>
            <a:off x="9720072" y="288950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Support prioritization, PM roadmap evidence, renewal plays and engineering ownership.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22960" y="4663440"/>
            <a:ext cx="10607040" cy="685800"/>
          </a:xfrm>
          <a:prstGeom prst="roundRect">
            <a:avLst>
              <a:gd name="adj" fmla="val 10667"/>
            </a:avLst>
          </a:prstGeom>
          <a:solidFill>
            <a:srgbClr val="ECFEFF"/>
          </a:solidFill>
          <a:ln w="8890">
            <a:solidFill>
              <a:srgbClr val="BAE6F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4128" y="4882896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766E"/>
                </a:solidFill>
              </a:rPr>
              <a:t>Design principle: transparent, reproducible pipeline first; optional LLM assistance later after taxonomy validation.</a:t>
            </a:r>
            <a:endParaRPr lang="en-US" sz="12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overview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transcript folders with meeting metadata, turns, summaries, topics, action items and key moments.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561320" y="347472"/>
            <a:ext cx="109728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685800" y="1234440"/>
          <a:ext cx="379476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892040" y="114300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93208" y="1289304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2563EB"/>
                </a:solidFill>
              </a:rPr>
              <a:t>Call type inference</a:t>
            </a:r>
            <a:endParaRPr lang="en-US" sz="1130" dirty="0"/>
          </a:p>
        </p:txBody>
      </p:sp>
      <p:sp>
        <p:nvSpPr>
          <p:cNvPr id="8" name="Text 5"/>
          <p:cNvSpPr/>
          <p:nvPr/>
        </p:nvSpPr>
        <p:spPr>
          <a:xfrm>
            <a:off x="5093208" y="1618488"/>
            <a:ext cx="25694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No explicit call_type field was present. Type was inferred from title, transcript content, roles and email domains, then saved to the processed dataset.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8275320" y="114300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76488" y="1289304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10B981"/>
                </a:solidFill>
              </a:rPr>
              <a:t>Account signals</a:t>
            </a:r>
            <a:endParaRPr lang="en-US" sz="1130" dirty="0"/>
          </a:p>
        </p:txBody>
      </p:sp>
      <p:sp>
        <p:nvSpPr>
          <p:cNvPr id="11" name="Text 8"/>
          <p:cNvSpPr/>
          <p:nvPr/>
        </p:nvSpPr>
        <p:spPr>
          <a:xfrm>
            <a:off x="8476488" y="1618488"/>
            <a:ext cx="25694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Customer/account identity is inferred from non-aegiscloud.com email domains where available. This creates a usable but imperfect account lens.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4892040" y="283464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093208" y="2980944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F766E"/>
                </a:solidFill>
              </a:rPr>
              <a:t>Rich transcript structure</a:t>
            </a:r>
            <a:endParaRPr lang="en-US" sz="1130" dirty="0"/>
          </a:p>
        </p:txBody>
      </p:sp>
      <p:sp>
        <p:nvSpPr>
          <p:cNvPr id="14" name="Text 11"/>
          <p:cNvSpPr/>
          <p:nvPr/>
        </p:nvSpPr>
        <p:spPr>
          <a:xfrm>
            <a:off x="5093208" y="3310128"/>
            <a:ext cx="25694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Speaker names, summaries, provided topics, action items and sentence-level timestamps make this stronger than raw free text.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8275320" y="283464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476488" y="2980944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7C3AED"/>
                </a:solidFill>
              </a:rPr>
              <a:t>Data quality note</a:t>
            </a:r>
            <a:endParaRPr lang="en-US" sz="1130" dirty="0"/>
          </a:p>
        </p:txBody>
      </p:sp>
      <p:sp>
        <p:nvSpPr>
          <p:cNvPr id="17" name="Text 14"/>
          <p:cNvSpPr/>
          <p:nvPr/>
        </p:nvSpPr>
        <p:spPr>
          <a:xfrm>
            <a:off x="8476488" y="3310128"/>
            <a:ext cx="25694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The pipeline remains robust to missing metadata and creates normalized output even when folder contents vary.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1627632" y="4617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Call type breakdown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Processing pipeline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repeatable batch pipeline built for local execution and reviewability.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561320" y="347472"/>
            <a:ext cx="109728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34440"/>
            <a:ext cx="157276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1399032"/>
            <a:ext cx="320040" cy="320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90472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133856" y="1371600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Load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5528" y="180136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Discover nested folders and parse JSON files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468880" y="1234440"/>
            <a:ext cx="1572768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78608" y="1399032"/>
            <a:ext cx="320040" cy="320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9192" y="1490472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2944368" y="1371600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Normalize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606040" y="180136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Flatten metadata, speakers, transcript text and summaries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279392" y="1234440"/>
            <a:ext cx="157276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1399032"/>
            <a:ext cx="320040" cy="320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9704" y="1490472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4754880" y="1371600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Infer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16552" y="180136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Assign support / external / internal call type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6089904" y="1234440"/>
            <a:ext cx="1572768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99632" y="1399032"/>
            <a:ext cx="320040" cy="320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0216" y="1490472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6565392" y="1371600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Classify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27064" y="180136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Generate topic theme and sentiment labels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7900416" y="1234440"/>
            <a:ext cx="157276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10144" y="1399032"/>
            <a:ext cx="320040" cy="320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10728" y="1490472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5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8375904" y="1371600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Analyze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37576" y="180136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Produce risk, request, churn and stakeholder outputs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9710928" y="1234440"/>
            <a:ext cx="1572768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820656" y="1399032"/>
            <a:ext cx="320040" cy="3200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21240" y="1490472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6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10186416" y="1371600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Present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848088" y="1801368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475569"/>
                </a:solidFill>
              </a:rPr>
              <a:t>Save CSVs, charts, notebook and slide assets</a:t>
            </a:r>
            <a:endParaRPr lang="en-US" sz="780" dirty="0"/>
          </a:p>
        </p:txBody>
      </p:sp>
      <p:graphicFrame>
        <p:nvGraphicFramePr>
          <p:cNvPr id="35" name="Chart 0"/>
          <p:cNvGraphicFramePr/>
          <p:nvPr/>
        </p:nvGraphicFramePr>
        <p:xfrm>
          <a:off x="777240" y="3182112"/>
          <a:ext cx="384048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6" name="Shape 33"/>
          <p:cNvSpPr/>
          <p:nvPr/>
        </p:nvSpPr>
        <p:spPr>
          <a:xfrm>
            <a:off x="5074920" y="3154680"/>
            <a:ext cx="6172200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5349240" y="3429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Engineering choices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5349240" y="3822192"/>
            <a:ext cx="53035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9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without paid API keys.
</a:t>
            </a:r>
            <a:r>
              <a:rPr lang="en-US" sz="98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9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taxonomy gives explainability and business readability.
</a:t>
            </a:r>
            <a:r>
              <a:rPr lang="en-US" sz="98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9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 are portable: relative paths only, no local machine leakage.
</a:t>
            </a:r>
            <a:r>
              <a:rPr lang="en-US" sz="98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9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is executed and saved for direct review.</a:t>
            </a:r>
            <a:endParaRPr lang="en-US" sz="98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Topic categorization approach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discovery + business-rule labeling creates interpretable themes.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561320" y="347472"/>
            <a:ext cx="109728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46634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325880"/>
            <a:ext cx="109728" cy="12984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5270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Discovery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8928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</a:rPr>
              <a:t>TF-IDF + clustering reveals natural groupings across titles, summaries, topics and transcript text.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6172200" y="1325880"/>
            <a:ext cx="46634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325880"/>
            <a:ext cx="109728" cy="12984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5270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Interpretation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18928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</a:rPr>
              <a:t>Representative keywords and phrases convert clusters into human-readable business themes.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822960" y="3154680"/>
            <a:ext cx="46634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3154680"/>
            <a:ext cx="109728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3558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Grounding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7216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</a:rPr>
              <a:t>Theme examples and transcript excerpts allow leaders to inspect evidence rather than trust a black box.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6172200" y="3154680"/>
            <a:ext cx="46634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3154680"/>
            <a:ext cx="109728" cy="1298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3558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Production path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37216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</a:rPr>
              <a:t>Optional LLM labeling can improve nuance after taxonomy approval and human validation.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841248" y="5276088"/>
            <a:ext cx="10561320" cy="566928"/>
          </a:xfrm>
          <a:prstGeom prst="roundRect">
            <a:avLst>
              <a:gd name="adj" fmla="val 12903"/>
            </a:avLst>
          </a:prstGeom>
          <a:solidFill>
            <a:srgbClr val="F0FDFA"/>
          </a:solidFill>
          <a:ln w="8890">
            <a:solidFill>
              <a:srgbClr val="99F6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2416" y="5468112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766E"/>
                </a:solidFill>
              </a:rPr>
              <a:t>Why not pure LLM? For a take-home prototype, deterministic classification is easier to review, reproduce and debug. LLM labels can be added after validation.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Themes identified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business themes, with reliability carrying the largest transcript volume.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561320" y="347472"/>
            <a:ext cx="109728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640080" y="1143000"/>
          <a:ext cx="566928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629400" y="1188720"/>
            <a:ext cx="489204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931152" y="14813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</a:rPr>
              <a:t>What the taxonomy tells leadership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931152" y="1993392"/>
            <a:ext cx="416052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 is the core pain cluster and deserves engineering ownership.
</a:t>
            </a:r>
            <a:r>
              <a:rPr lang="en-US" sz="102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conversations are high-value but generally more positive.
</a:t>
            </a:r>
            <a:r>
              <a:rPr lang="en-US" sz="102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Renewal risk is visible before it becomes a closed-lost or churn event.
</a:t>
            </a:r>
            <a:r>
              <a:rPr lang="en-US" sz="102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planning can be compared against customer-facing pain.
</a:t>
            </a:r>
            <a:r>
              <a:rPr lang="en-US" sz="102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requests become roadmap evidence when paired with examples.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Theme evidence examples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transcript signals show why the labels are business-actionable.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561320" y="347472"/>
            <a:ext cx="109728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34440"/>
            <a:ext cx="105613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234440"/>
            <a:ext cx="118872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417320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Product bugs and technical reliability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26280" y="142646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01KQ2D93184912F0147315E7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3000" y="1801368"/>
            <a:ext cx="8915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475569"/>
                </a:solidFill>
              </a:rPr>
              <a:t>Critical support situation involving outage/SLA language and immediate business impact.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822960" y="2761488"/>
            <a:ext cx="105613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2761488"/>
            <a:ext cx="118872" cy="11155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944368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Compliance and audit readiness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295351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</a:rPr>
              <a:t>01KQ445B1B5B890316C9E300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43000" y="3328416"/>
            <a:ext cx="8915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475569"/>
                </a:solidFill>
              </a:rPr>
              <a:t>Conversation tied to post-mortem follow-up, audit readiness and regulated-buyer needs.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22960" y="4288536"/>
            <a:ext cx="105613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288536"/>
            <a:ext cx="118872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471416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Renewal, pricing and account risk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26280" y="448056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01KQ1DCC80852AE384C898C9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43000" y="4855464"/>
            <a:ext cx="8915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475569"/>
                </a:solidFill>
              </a:rPr>
              <a:t>Renewal confidence affected by a six-hour outage, pricing pressure and trust concerns.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822960" y="5824728"/>
            <a:ext cx="10561320" cy="347472"/>
          </a:xfrm>
          <a:prstGeom prst="roundRect">
            <a:avLst>
              <a:gd name="adj" fmla="val 21053"/>
            </a:avLst>
          </a:prstGeom>
          <a:solidFill>
            <a:srgbClr val="EFF6FF"/>
          </a:solidFill>
          <a:ln w="889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943600"/>
            <a:ext cx="10149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D4ED8"/>
                </a:solidFill>
              </a:rPr>
              <a:t>Review principle: every automated theme should link back to example transcripts so reviewers can challenge or validate the label.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Sentiment across call types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calls contain the strongest negative signal; external calls carry revenue context.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561320" y="347472"/>
            <a:ext cx="109728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731520" y="128016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693408" y="1325880"/>
            <a:ext cx="45262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94576" y="1472184"/>
            <a:ext cx="4123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2563EB"/>
                </a:solidFill>
              </a:rPr>
              <a:t>Interpretation</a:t>
            </a:r>
            <a:endParaRPr lang="en-US" sz="1130" dirty="0"/>
          </a:p>
        </p:txBody>
      </p:sp>
      <p:sp>
        <p:nvSpPr>
          <p:cNvPr id="8" name="Text 5"/>
          <p:cNvSpPr/>
          <p:nvPr/>
        </p:nvSpPr>
        <p:spPr>
          <a:xfrm>
            <a:off x="6894576" y="1801368"/>
            <a:ext cx="4123944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Support is the best early-warning surface for technical reliability pain. External calls are more positive overall, but negative moments matter because they often contain renewal, pricing, SLA or competitor language.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6693408" y="3255264"/>
            <a:ext cx="4526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94576" y="3401568"/>
            <a:ext cx="4123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0F766E"/>
                </a:solidFill>
              </a:rPr>
              <a:t>Why leaders should care</a:t>
            </a:r>
            <a:endParaRPr lang="en-US" sz="1130" dirty="0"/>
          </a:p>
        </p:txBody>
      </p:sp>
      <p:sp>
        <p:nvSpPr>
          <p:cNvPr id="11" name="Text 8"/>
          <p:cNvSpPr/>
          <p:nvPr/>
        </p:nvSpPr>
        <p:spPr>
          <a:xfrm>
            <a:off x="6894576" y="3730752"/>
            <a:ext cx="412394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Sentiment should not be used as a vanity metric. It becomes useful when attached to call type, theme, account context and recommended ownership.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749808" y="544068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Counts are transcript-level labels generated by the local sentiment pipeline.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Sentiment by theme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reliability is the most important pain cluster because it combines volume and negative sentiment.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561320" y="347472"/>
            <a:ext cx="109728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713232" y="1234440"/>
          <a:ext cx="571500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720840" y="1298448"/>
            <a:ext cx="4434840" cy="4041648"/>
          </a:xfrm>
          <a:prstGeom prst="roundRect">
            <a:avLst>
              <a:gd name="adj" fmla="val 181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022592" y="1600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Signal quality check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022592" y="2057400"/>
            <a:ext cx="374904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 language is negative because customers experience incidents as trust loss.
</a:t>
            </a:r>
            <a:r>
              <a:rPr lang="en-US" sz="104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themes skew positive because the product supports urgent audit needs.
</a:t>
            </a:r>
            <a:r>
              <a:rPr lang="en-US" sz="104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request sentiment can be neutral but still strategically important.
</a:t>
            </a:r>
            <a:r>
              <a:rPr lang="en-US" sz="104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 + sentiment together is stronger than either metric alone.</a:t>
            </a:r>
            <a:endParaRPr lang="en-US" sz="10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Trend 1: reliability is a product risk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Outage, SLA and technical-issue language clusters in support calls.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561320" y="347472"/>
            <a:ext cx="109728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34440"/>
            <a:ext cx="3703320" cy="3749040"/>
          </a:xfrm>
          <a:prstGeom prst="roundRect">
            <a:avLst>
              <a:gd name="adj" fmla="val 197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572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What it means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057400"/>
            <a:ext cx="31089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Technical friction is creating support load and account-trust risk. Customers do not experience incidents as isolated bugs; they experience them as reliability uncertainty.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37033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Recommended action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1051560" y="4069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Prioritize fixes, publish clearer incident comms, and create an escalation review for top negative reliability transcripts.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234440"/>
            <a:ext cx="630936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30368" y="1572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Who should care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230368" y="2057400"/>
            <a:ext cx="1691640" cy="384048"/>
          </a:xfrm>
          <a:prstGeom prst="roundRect">
            <a:avLst>
              <a:gd name="adj" fmla="val 1190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67528" y="2176272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</a:rPr>
              <a:t>Support leaders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7315200" y="215798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75569"/>
                </a:solidFill>
              </a:rPr>
              <a:t>Reduce repeat contacts and escalation load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5230368" y="2807208"/>
            <a:ext cx="1691640" cy="384048"/>
          </a:xfrm>
          <a:prstGeom prst="roundRect">
            <a:avLst>
              <a:gd name="adj" fmla="val 1190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67528" y="2926080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</a:rPr>
              <a:t>Product managers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7315200" y="29077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75569"/>
                </a:solidFill>
              </a:rPr>
              <a:t>Prioritize customer pain with evidence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230368" y="3557016"/>
            <a:ext cx="1691640" cy="384048"/>
          </a:xfrm>
          <a:prstGeom prst="roundRect">
            <a:avLst>
              <a:gd name="adj" fmla="val 1190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67528" y="3675888"/>
            <a:ext cx="1417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</a:rPr>
              <a:t>Engineering leads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7315200" y="365760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75569"/>
                </a:solidFill>
              </a:rPr>
              <a:t>Connect incidents to reliability roadmap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Trend 2: external calls carry renewal context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risk and expansion signals appear before they become CRM outcomes.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561320" y="347472"/>
            <a:ext cx="109728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188720"/>
            <a:ext cx="51663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8992" y="1508760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External calls often sound more positive, but the negative moments are high value.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2359152"/>
            <a:ext cx="420624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Renewal and pricing objections need account ownership.
</a:t>
            </a:r>
            <a:r>
              <a:rPr lang="en-US" sz="108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 and competitor mentions should trigger proactive plays.
</a:t>
            </a:r>
            <a:r>
              <a:rPr lang="en-US" sz="108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value creates expansion opportunities when trust is intact.
</a:t>
            </a:r>
            <a:r>
              <a:rPr lang="en-US" sz="108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scores should be routed into CRM workflows.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446520" y="1234440"/>
            <a:ext cx="4389120" cy="4160520"/>
          </a:xfrm>
          <a:prstGeom prst="roundRect">
            <a:avLst>
              <a:gd name="adj" fmla="val 1758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</a:rPr>
              <a:t>Account workflow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03720" y="214884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Detect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973568" y="21488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Risk phrase + sentiment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159752" y="2450592"/>
            <a:ext cx="182880" cy="164592"/>
          </a:xfrm>
          <a:prstGeom prst="downArrow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283464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Route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73568" y="28346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CSM / AM owner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59752" y="3136392"/>
            <a:ext cx="182880" cy="164592"/>
          </a:xfrm>
          <a:prstGeom prst="downArrow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352044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Act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73568" y="35204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Renewal or expansion play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59752" y="3822192"/>
            <a:ext cx="182880" cy="164592"/>
          </a:xfrm>
          <a:prstGeom prst="downArrow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420624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Learn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73568" y="42062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Outcome feedback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Additional insight: escalation risk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Urgent language, SLA/outage markers and unresolved terms create an early-warning queue.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561320" y="347472"/>
            <a:ext cx="109728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43000"/>
            <a:ext cx="1737360" cy="493776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98448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Transcript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2423160" y="1143000"/>
            <a:ext cx="1005840" cy="493776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96312" y="1298448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Type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3429000" y="1143000"/>
            <a:ext cx="685800" cy="493776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1298448"/>
            <a:ext cx="539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Risk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4114800" y="1143000"/>
            <a:ext cx="1828800" cy="493776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87952" y="1298448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Owner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5943600" y="1143000"/>
            <a:ext cx="4800600" cy="493776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16752" y="1298448"/>
            <a:ext cx="4654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</a:rPr>
              <a:t>Reason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685800" y="1636776"/>
            <a:ext cx="173736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1792224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827"/>
                </a:solidFill>
              </a:rPr>
              <a:t>01KQ2331...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2423160" y="1636776"/>
            <a:ext cx="100584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96312" y="1792224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827"/>
                </a:solidFill>
              </a:rPr>
              <a:t>support</a:t>
            </a:r>
            <a:endParaRPr lang="en-US" sz="790" dirty="0"/>
          </a:p>
        </p:txBody>
      </p:sp>
      <p:sp>
        <p:nvSpPr>
          <p:cNvPr id="19" name="Shape 17"/>
          <p:cNvSpPr/>
          <p:nvPr/>
        </p:nvSpPr>
        <p:spPr>
          <a:xfrm>
            <a:off x="3429000" y="1636776"/>
            <a:ext cx="68580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02152" y="1792224"/>
            <a:ext cx="539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EF4444"/>
                </a:solidFill>
              </a:rPr>
              <a:t>9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4114800" y="1636776"/>
            <a:ext cx="182880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87952" y="1792224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827"/>
                </a:solidFill>
              </a:rPr>
              <a:t>Eng + Support</a:t>
            </a:r>
            <a:endParaRPr lang="en-US" sz="790" dirty="0"/>
          </a:p>
        </p:txBody>
      </p:sp>
      <p:sp>
        <p:nvSpPr>
          <p:cNvPr id="23" name="Shape 21"/>
          <p:cNvSpPr/>
          <p:nvPr/>
        </p:nvSpPr>
        <p:spPr>
          <a:xfrm>
            <a:off x="5943600" y="1636776"/>
            <a:ext cx="480060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1792224"/>
            <a:ext cx="4654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827"/>
                </a:solidFill>
              </a:rPr>
              <a:t>urgent, escalation, SLA, outage</a:t>
            </a:r>
            <a:endParaRPr lang="en-US" sz="790" dirty="0"/>
          </a:p>
        </p:txBody>
      </p:sp>
      <p:sp>
        <p:nvSpPr>
          <p:cNvPr id="25" name="Shape 23"/>
          <p:cNvSpPr/>
          <p:nvPr/>
        </p:nvSpPr>
        <p:spPr>
          <a:xfrm>
            <a:off x="685800" y="2130552"/>
            <a:ext cx="1737360" cy="49377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2286000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827"/>
                </a:solidFill>
              </a:rPr>
              <a:t>01KQ2D93...</a:t>
            </a:r>
            <a:endParaRPr lang="en-US" sz="790" dirty="0"/>
          </a:p>
        </p:txBody>
      </p:sp>
      <p:sp>
        <p:nvSpPr>
          <p:cNvPr id="27" name="Shape 25"/>
          <p:cNvSpPr/>
          <p:nvPr/>
        </p:nvSpPr>
        <p:spPr>
          <a:xfrm>
            <a:off x="2423160" y="2130552"/>
            <a:ext cx="1005840" cy="49377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96312" y="2286000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827"/>
                </a:solidFill>
              </a:rPr>
              <a:t>support</a:t>
            </a:r>
            <a:endParaRPr lang="en-US" sz="790" dirty="0"/>
          </a:p>
        </p:txBody>
      </p:sp>
      <p:sp>
        <p:nvSpPr>
          <p:cNvPr id="29" name="Shape 27"/>
          <p:cNvSpPr/>
          <p:nvPr/>
        </p:nvSpPr>
        <p:spPr>
          <a:xfrm>
            <a:off x="3429000" y="2130552"/>
            <a:ext cx="685800" cy="49377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02152" y="2286000"/>
            <a:ext cx="539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EF4444"/>
                </a:solidFill>
              </a:rPr>
              <a:t>9</a:t>
            </a:r>
            <a:endParaRPr lang="en-US" sz="790" dirty="0"/>
          </a:p>
        </p:txBody>
      </p:sp>
      <p:sp>
        <p:nvSpPr>
          <p:cNvPr id="31" name="Shape 29"/>
          <p:cNvSpPr/>
          <p:nvPr/>
        </p:nvSpPr>
        <p:spPr>
          <a:xfrm>
            <a:off x="4114800" y="2130552"/>
            <a:ext cx="1828800" cy="49377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87952" y="2286000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827"/>
                </a:solidFill>
              </a:rPr>
              <a:t>Eng + Support</a:t>
            </a:r>
            <a:endParaRPr lang="en-US" sz="790" dirty="0"/>
          </a:p>
        </p:txBody>
      </p:sp>
      <p:sp>
        <p:nvSpPr>
          <p:cNvPr id="33" name="Shape 31"/>
          <p:cNvSpPr/>
          <p:nvPr/>
        </p:nvSpPr>
        <p:spPr>
          <a:xfrm>
            <a:off x="5943600" y="2130552"/>
            <a:ext cx="4800600" cy="49377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16752" y="2286000"/>
            <a:ext cx="4654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827"/>
                </a:solidFill>
              </a:rPr>
              <a:t>SLA breach, outage, critical</a:t>
            </a:r>
            <a:endParaRPr lang="en-US" sz="790" dirty="0"/>
          </a:p>
        </p:txBody>
      </p:sp>
      <p:sp>
        <p:nvSpPr>
          <p:cNvPr id="35" name="Shape 33"/>
          <p:cNvSpPr/>
          <p:nvPr/>
        </p:nvSpPr>
        <p:spPr>
          <a:xfrm>
            <a:off x="685800" y="2624328"/>
            <a:ext cx="173736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2779776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827"/>
                </a:solidFill>
              </a:rPr>
              <a:t>01KQ46A9...</a:t>
            </a:r>
            <a:endParaRPr lang="en-US" sz="790" dirty="0"/>
          </a:p>
        </p:txBody>
      </p:sp>
      <p:sp>
        <p:nvSpPr>
          <p:cNvPr id="37" name="Shape 35"/>
          <p:cNvSpPr/>
          <p:nvPr/>
        </p:nvSpPr>
        <p:spPr>
          <a:xfrm>
            <a:off x="2423160" y="2624328"/>
            <a:ext cx="100584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96312" y="2779776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827"/>
                </a:solidFill>
              </a:rPr>
              <a:t>support</a:t>
            </a:r>
            <a:endParaRPr lang="en-US" sz="790" dirty="0"/>
          </a:p>
        </p:txBody>
      </p:sp>
      <p:sp>
        <p:nvSpPr>
          <p:cNvPr id="39" name="Shape 37"/>
          <p:cNvSpPr/>
          <p:nvPr/>
        </p:nvSpPr>
        <p:spPr>
          <a:xfrm>
            <a:off x="3429000" y="2624328"/>
            <a:ext cx="68580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02152" y="2779776"/>
            <a:ext cx="539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EF4444"/>
                </a:solidFill>
              </a:rPr>
              <a:t>9</a:t>
            </a:r>
            <a:endParaRPr lang="en-US" sz="790" dirty="0"/>
          </a:p>
        </p:txBody>
      </p:sp>
      <p:sp>
        <p:nvSpPr>
          <p:cNvPr id="41" name="Shape 39"/>
          <p:cNvSpPr/>
          <p:nvPr/>
        </p:nvSpPr>
        <p:spPr>
          <a:xfrm>
            <a:off x="4114800" y="2624328"/>
            <a:ext cx="182880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87952" y="2779776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827"/>
                </a:solidFill>
              </a:rPr>
              <a:t>Eng + Support</a:t>
            </a:r>
            <a:endParaRPr lang="en-US" sz="790" dirty="0"/>
          </a:p>
        </p:txBody>
      </p:sp>
      <p:sp>
        <p:nvSpPr>
          <p:cNvPr id="43" name="Shape 41"/>
          <p:cNvSpPr/>
          <p:nvPr/>
        </p:nvSpPr>
        <p:spPr>
          <a:xfrm>
            <a:off x="5943600" y="2624328"/>
            <a:ext cx="480060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16752" y="2779776"/>
            <a:ext cx="4654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827"/>
                </a:solidFill>
              </a:rPr>
              <a:t>downtime, executive, critical</a:t>
            </a:r>
            <a:endParaRPr lang="en-US" sz="790" dirty="0"/>
          </a:p>
        </p:txBody>
      </p:sp>
      <p:sp>
        <p:nvSpPr>
          <p:cNvPr id="45" name="Shape 43"/>
          <p:cNvSpPr/>
          <p:nvPr/>
        </p:nvSpPr>
        <p:spPr>
          <a:xfrm>
            <a:off x="685800" y="3118104"/>
            <a:ext cx="1737360" cy="49377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8952" y="3273552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827"/>
                </a:solidFill>
              </a:rPr>
              <a:t>01KQ38C4...</a:t>
            </a:r>
            <a:endParaRPr lang="en-US" sz="790" dirty="0"/>
          </a:p>
        </p:txBody>
      </p:sp>
      <p:sp>
        <p:nvSpPr>
          <p:cNvPr id="47" name="Shape 45"/>
          <p:cNvSpPr/>
          <p:nvPr/>
        </p:nvSpPr>
        <p:spPr>
          <a:xfrm>
            <a:off x="2423160" y="3118104"/>
            <a:ext cx="1005840" cy="49377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96312" y="3273552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827"/>
                </a:solidFill>
              </a:rPr>
              <a:t>support</a:t>
            </a:r>
            <a:endParaRPr lang="en-US" sz="790" dirty="0"/>
          </a:p>
        </p:txBody>
      </p:sp>
      <p:sp>
        <p:nvSpPr>
          <p:cNvPr id="49" name="Shape 47"/>
          <p:cNvSpPr/>
          <p:nvPr/>
        </p:nvSpPr>
        <p:spPr>
          <a:xfrm>
            <a:off x="3429000" y="3118104"/>
            <a:ext cx="685800" cy="49377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02152" y="3273552"/>
            <a:ext cx="539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EF4444"/>
                </a:solidFill>
              </a:rPr>
              <a:t>8</a:t>
            </a:r>
            <a:endParaRPr lang="en-US" sz="790" dirty="0"/>
          </a:p>
        </p:txBody>
      </p:sp>
      <p:sp>
        <p:nvSpPr>
          <p:cNvPr id="51" name="Shape 49"/>
          <p:cNvSpPr/>
          <p:nvPr/>
        </p:nvSpPr>
        <p:spPr>
          <a:xfrm>
            <a:off x="4114800" y="3118104"/>
            <a:ext cx="1828800" cy="49377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87952" y="3273552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827"/>
                </a:solidFill>
              </a:rPr>
              <a:t>Eng + Support</a:t>
            </a:r>
            <a:endParaRPr lang="en-US" sz="790" dirty="0"/>
          </a:p>
        </p:txBody>
      </p:sp>
      <p:sp>
        <p:nvSpPr>
          <p:cNvPr id="53" name="Shape 51"/>
          <p:cNvSpPr/>
          <p:nvPr/>
        </p:nvSpPr>
        <p:spPr>
          <a:xfrm>
            <a:off x="5943600" y="3118104"/>
            <a:ext cx="4800600" cy="493776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16752" y="3273552"/>
            <a:ext cx="4654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827"/>
                </a:solidFill>
              </a:rPr>
              <a:t>breach, outage, critical</a:t>
            </a:r>
            <a:endParaRPr lang="en-US" sz="790" dirty="0"/>
          </a:p>
        </p:txBody>
      </p:sp>
      <p:sp>
        <p:nvSpPr>
          <p:cNvPr id="55" name="Shape 53"/>
          <p:cNvSpPr/>
          <p:nvPr/>
        </p:nvSpPr>
        <p:spPr>
          <a:xfrm>
            <a:off x="685800" y="3611880"/>
            <a:ext cx="173736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8952" y="3767328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827"/>
                </a:solidFill>
              </a:rPr>
              <a:t>01KQ6A5C...</a:t>
            </a:r>
            <a:endParaRPr lang="en-US" sz="790" dirty="0"/>
          </a:p>
        </p:txBody>
      </p:sp>
      <p:sp>
        <p:nvSpPr>
          <p:cNvPr id="57" name="Shape 55"/>
          <p:cNvSpPr/>
          <p:nvPr/>
        </p:nvSpPr>
        <p:spPr>
          <a:xfrm>
            <a:off x="2423160" y="3611880"/>
            <a:ext cx="100584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96312" y="3767328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827"/>
                </a:solidFill>
              </a:rPr>
              <a:t>support</a:t>
            </a:r>
            <a:endParaRPr lang="en-US" sz="790" dirty="0"/>
          </a:p>
        </p:txBody>
      </p:sp>
      <p:sp>
        <p:nvSpPr>
          <p:cNvPr id="59" name="Shape 57"/>
          <p:cNvSpPr/>
          <p:nvPr/>
        </p:nvSpPr>
        <p:spPr>
          <a:xfrm>
            <a:off x="3429000" y="3611880"/>
            <a:ext cx="68580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02152" y="3767328"/>
            <a:ext cx="539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EF4444"/>
                </a:solidFill>
              </a:rPr>
              <a:t>8</a:t>
            </a:r>
            <a:endParaRPr lang="en-US" sz="790" dirty="0"/>
          </a:p>
        </p:txBody>
      </p:sp>
      <p:sp>
        <p:nvSpPr>
          <p:cNvPr id="61" name="Shape 59"/>
          <p:cNvSpPr/>
          <p:nvPr/>
        </p:nvSpPr>
        <p:spPr>
          <a:xfrm>
            <a:off x="4114800" y="3611880"/>
            <a:ext cx="182880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87952" y="3767328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827"/>
                </a:solidFill>
              </a:rPr>
              <a:t>Eng + Support</a:t>
            </a:r>
            <a:endParaRPr lang="en-US" sz="790" dirty="0"/>
          </a:p>
        </p:txBody>
      </p:sp>
      <p:sp>
        <p:nvSpPr>
          <p:cNvPr id="63" name="Shape 61"/>
          <p:cNvSpPr/>
          <p:nvPr/>
        </p:nvSpPr>
        <p:spPr>
          <a:xfrm>
            <a:off x="5943600" y="3611880"/>
            <a:ext cx="4800600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016752" y="3767328"/>
            <a:ext cx="4654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827"/>
                </a:solidFill>
              </a:rPr>
              <a:t>unresolved, downtime, critical</a:t>
            </a:r>
            <a:endParaRPr lang="en-US" sz="790" dirty="0"/>
          </a:p>
        </p:txBody>
      </p:sp>
      <p:sp>
        <p:nvSpPr>
          <p:cNvPr id="65" name="Shape 63"/>
          <p:cNvSpPr/>
          <p:nvPr/>
        </p:nvSpPr>
        <p:spPr>
          <a:xfrm>
            <a:off x="868680" y="4892040"/>
            <a:ext cx="10287000" cy="658368"/>
          </a:xfrm>
          <a:prstGeom prst="roundRect">
            <a:avLst>
              <a:gd name="adj" fmla="val 11111"/>
            </a:avLst>
          </a:prstGeom>
          <a:solidFill>
            <a:srgbClr val="FEF2F2"/>
          </a:solidFill>
          <a:ln w="8890">
            <a:solidFill>
              <a:srgbClr val="FECAC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78992" y="512064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EF4444"/>
                </a:solidFill>
              </a:rPr>
              <a:t>Why it matters: this turns transcripts into a queue for action before customer pain becomes churn, SLA exposure or executive escalation.</a:t>
            </a:r>
            <a:endParaRPr lang="en-US" sz="1180" dirty="0"/>
          </a:p>
        </p:txBody>
      </p:sp>
      <p:sp>
        <p:nvSpPr>
          <p:cNvPr id="6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Additional insight: feature request mining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Improved extraction now surfaces capabilities, not generic words.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561320" y="347472"/>
            <a:ext cx="109728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685800" y="1234440"/>
          <a:ext cx="56692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720840" y="1280160"/>
            <a:ext cx="448056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022592" y="15727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</a:rPr>
              <a:t>How PMs should use it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022592" y="2057400"/>
            <a:ext cx="374904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frequency as a discovery signal, not a final priority score.
</a:t>
            </a:r>
            <a:r>
              <a:rPr lang="en-US" sz="104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Attach transcript examples to each roadmap candidate.
</a:t>
            </a:r>
            <a:r>
              <a:rPr lang="en-US" sz="104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 requests with revenue risk, customer segment and implementation effort.
</a:t>
            </a:r>
            <a:r>
              <a:rPr lang="en-US" sz="104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with a PM-owned taxonomy before production use.</a:t>
            </a:r>
            <a:endParaRPr lang="en-US" sz="10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Additional insight: churn and stakeholder views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teams need different slices of the same transcript intelligence.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561320" y="347472"/>
            <a:ext cx="109728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34440"/>
            <a:ext cx="1508760" cy="521208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399032"/>
            <a:ext cx="1362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Stakeholder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286000" y="1234440"/>
            <a:ext cx="2057400" cy="521208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59152" y="1399032"/>
            <a:ext cx="1911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Top signal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343400" y="1234440"/>
            <a:ext cx="2057400" cy="521208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16552" y="1399032"/>
            <a:ext cx="1911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7240" y="1755648"/>
            <a:ext cx="1508760" cy="52120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1920240"/>
            <a:ext cx="1362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Support leader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0" y="1755648"/>
            <a:ext cx="2057400" cy="52120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59152" y="1920240"/>
            <a:ext cx="1911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Negative reliability themes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343400" y="1755648"/>
            <a:ext cx="2057400" cy="52120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6552" y="1920240"/>
            <a:ext cx="1911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Weekly escalation-risk review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77240" y="2276856"/>
            <a:ext cx="1508760" cy="52120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441448"/>
            <a:ext cx="1362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Product manager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86000" y="2276856"/>
            <a:ext cx="2057400" cy="52120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59152" y="2441448"/>
            <a:ext cx="1911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Feature asks + examples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343400" y="2276856"/>
            <a:ext cx="2057400" cy="52120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16552" y="2441448"/>
            <a:ext cx="1911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Roadmap intake with evidence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77240" y="2798064"/>
            <a:ext cx="1508760" cy="52120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2962656"/>
            <a:ext cx="1362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Sales / AM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286000" y="2798064"/>
            <a:ext cx="2057400" cy="52120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59152" y="2962656"/>
            <a:ext cx="1911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Renewal + pricing risk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343400" y="2798064"/>
            <a:ext cx="2057400" cy="52120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16552" y="2962656"/>
            <a:ext cx="1911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Proactive account plays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77240" y="3319272"/>
            <a:ext cx="1508760" cy="52120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3483864"/>
            <a:ext cx="1362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Engineering lead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286000" y="3319272"/>
            <a:ext cx="2057400" cy="52120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59152" y="3483864"/>
            <a:ext cx="1911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Bug clusters + outage terms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343400" y="3319272"/>
            <a:ext cx="2057400" cy="521208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16552" y="3483864"/>
            <a:ext cx="1911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Reliability roadmap ownership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812280" y="1234440"/>
            <a:ext cx="4343400" cy="292608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114032" y="1554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</a:rPr>
              <a:t>Design implication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7114032" y="20574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75569"/>
                </a:solidFill>
              </a:rPr>
              <a:t>A single transcript model should not produce a single generic dashboard. The same data should create team-specific views, actions and ownership paths.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7114032" y="3337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0F766E"/>
                </a:solidFill>
              </a:rPr>
              <a:t>Best product experience: ask a stakeholder question, then show the transcript evidence behind the answer.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777240" y="4736592"/>
            <a:ext cx="10378440" cy="566928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 w="8890">
            <a:solidFill>
              <a:srgbClr val="BFDB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51560" y="4937760"/>
            <a:ext cx="9829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D4ED8"/>
                </a:solidFill>
              </a:rPr>
              <a:t>Churn risk is strongest when negative sentiment, renewal language, pricing objections and unresolved support issues co-occur.</a:t>
            </a:r>
            <a:endParaRPr lang="en-US" sz="114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Product-engineering alignment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Customer-facing pain can be mapped to internal execution themes.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561320" y="347472"/>
            <a:ext cx="109728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2529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4ED8"/>
                </a:solidFill>
              </a:rPr>
              <a:t>Customer-facing signals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83880" y="122529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Internal execution signals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1719072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889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856232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11827"/>
                </a:solidFill>
              </a:rPr>
              <a:t>Reliability incidents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8183880" y="1719072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F5F3FF"/>
          </a:solidFill>
          <a:ln w="8890">
            <a:solidFill>
              <a:srgbClr val="DDD6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1856232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11827"/>
                </a:solidFill>
              </a:rPr>
              <a:t>Incident review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5102352" y="1792224"/>
            <a:ext cx="914400" cy="31089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505456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889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642616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11827"/>
                </a:solidFill>
              </a:rPr>
              <a:t>API/integration friction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183880" y="2505456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F5F3FF"/>
          </a:solidFill>
          <a:ln w="8890">
            <a:solidFill>
              <a:srgbClr val="DDD6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642616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11827"/>
                </a:solidFill>
              </a:rPr>
              <a:t>Roadmap ownership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5102352" y="2578608"/>
            <a:ext cx="914400" cy="31089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29184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889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429000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11827"/>
                </a:solidFill>
              </a:rPr>
              <a:t>Dashboard/reporting gaps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8183880" y="329184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F5F3FF"/>
          </a:solidFill>
          <a:ln w="8890">
            <a:solidFill>
              <a:srgbClr val="DDD6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3429000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11827"/>
                </a:solidFill>
              </a:rPr>
              <a:t>Sprint planning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5102352" y="3364992"/>
            <a:ext cx="914400" cy="31089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4078224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889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215384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11827"/>
                </a:solidFill>
              </a:rPr>
              <a:t>Onboarding/documentation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183880" y="4078224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F5F3FF"/>
          </a:solidFill>
          <a:ln w="8890">
            <a:solidFill>
              <a:srgbClr val="DDD6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4215384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11827"/>
                </a:solidFill>
              </a:rPr>
              <a:t>Enablement backlog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102352" y="4151376"/>
            <a:ext cx="914400" cy="310896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5120640"/>
            <a:ext cx="103327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115568" y="5340096"/>
            <a:ext cx="9875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11827"/>
                </a:solidFill>
              </a:rPr>
              <a:t>Value: leaders can see whether the engineering roadmap is aligned with the highest-volume and most-negative customer pain.</a:t>
            </a:r>
            <a:endParaRPr lang="en-US" sz="112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vision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transcript intelligence layer for search, dashboards, alerts and workflow integrations.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561320" y="347472"/>
            <a:ext cx="109728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3444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234440"/>
            <a:ext cx="109728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" y="1435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Search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8136" y="18013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Find evidence across support, external and internal calls.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480560" y="123444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234440"/>
            <a:ext cx="109728" cy="1143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435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Dashboards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91456" y="18013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Track themes, sentiment and risks by team.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183880" y="123444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83880" y="1234440"/>
            <a:ext cx="109728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94776" y="1435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Alerts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94776" y="18013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Notify owners when escalation or churn risk appears.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77240" y="288036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2880360"/>
            <a:ext cx="10972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8136" y="30815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Roadmap feed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88136" y="34472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Convert voice-of-customer data into PM review queues.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4480560" y="288036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80560" y="2880360"/>
            <a:ext cx="109728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30815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Integrations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91456" y="34472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Connect signals to CRM, support tools and project planning.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572000" y="4526280"/>
            <a:ext cx="6720840" cy="749808"/>
          </a:xfrm>
          <a:prstGeom prst="roundRect">
            <a:avLst>
              <a:gd name="adj" fmla="val 9756"/>
            </a:avLst>
          </a:prstGeom>
          <a:solidFill>
            <a:srgbClr val="0F172A"/>
          </a:solidFill>
          <a:ln w="889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4791456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</a:rPr>
              <a:t>North star: help teams change decisions before problems become obvious in lagging metrics.</a:t>
            </a:r>
            <a:endParaRPr lang="en-US" sz="118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Batch-first now; near-real-time routing later.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561320" y="347472"/>
            <a:ext cx="109728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81328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" y="17190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Ingestion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612648" y="20482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dirty="0">
                <a:solidFill>
                  <a:srgbClr val="475569"/>
                </a:solidFill>
              </a:rPr>
              <a:t>JSON folders + metadata</a:t>
            </a:r>
            <a:endParaRPr lang="en-US" sz="690" dirty="0"/>
          </a:p>
        </p:txBody>
      </p:sp>
      <p:sp>
        <p:nvSpPr>
          <p:cNvPr id="8" name="Shape 6"/>
          <p:cNvSpPr/>
          <p:nvPr/>
        </p:nvSpPr>
        <p:spPr>
          <a:xfrm>
            <a:off x="2057400" y="1783080"/>
            <a:ext cx="329184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04872" y="1481328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7190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Preprocess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2514600" y="20482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dirty="0">
                <a:solidFill>
                  <a:srgbClr val="475569"/>
                </a:solidFill>
              </a:rPr>
              <a:t>clean text + normalize</a:t>
            </a:r>
            <a:endParaRPr lang="en-US" sz="690" dirty="0"/>
          </a:p>
        </p:txBody>
      </p:sp>
      <p:sp>
        <p:nvSpPr>
          <p:cNvPr id="12" name="Shape 10"/>
          <p:cNvSpPr/>
          <p:nvPr/>
        </p:nvSpPr>
        <p:spPr>
          <a:xfrm>
            <a:off x="3959352" y="1783080"/>
            <a:ext cx="329184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6824" y="1481328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16552" y="17190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Represent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416552" y="20482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dirty="0">
                <a:solidFill>
                  <a:srgbClr val="475569"/>
                </a:solidFill>
              </a:rPr>
              <a:t>TF-IDF / embeddings</a:t>
            </a:r>
            <a:endParaRPr lang="en-US" sz="690" dirty="0"/>
          </a:p>
        </p:txBody>
      </p:sp>
      <p:sp>
        <p:nvSpPr>
          <p:cNvPr id="16" name="Shape 14"/>
          <p:cNvSpPr/>
          <p:nvPr/>
        </p:nvSpPr>
        <p:spPr>
          <a:xfrm>
            <a:off x="5861304" y="1783080"/>
            <a:ext cx="329184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08776" y="1481328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18504" y="17190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Predict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6318504" y="20482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dirty="0">
                <a:solidFill>
                  <a:srgbClr val="475569"/>
                </a:solidFill>
              </a:rPr>
              <a:t>theme + sentiment</a:t>
            </a:r>
            <a:endParaRPr lang="en-US" sz="690" dirty="0"/>
          </a:p>
        </p:txBody>
      </p:sp>
      <p:sp>
        <p:nvSpPr>
          <p:cNvPr id="20" name="Shape 18"/>
          <p:cNvSpPr/>
          <p:nvPr/>
        </p:nvSpPr>
        <p:spPr>
          <a:xfrm>
            <a:off x="7763256" y="1783080"/>
            <a:ext cx="329184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10728" y="1481328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0456" y="17190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Insights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8220456" y="20482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dirty="0">
                <a:solidFill>
                  <a:srgbClr val="475569"/>
                </a:solidFill>
              </a:rPr>
              <a:t>risk + requests + churn</a:t>
            </a:r>
            <a:endParaRPr lang="en-US" sz="690" dirty="0"/>
          </a:p>
        </p:txBody>
      </p:sp>
      <p:sp>
        <p:nvSpPr>
          <p:cNvPr id="24" name="Shape 22"/>
          <p:cNvSpPr/>
          <p:nvPr/>
        </p:nvSpPr>
        <p:spPr>
          <a:xfrm>
            <a:off x="9665208" y="1783080"/>
            <a:ext cx="329184" cy="41148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12680" y="1481328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122408" y="17190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11827"/>
                </a:solidFill>
              </a:rPr>
              <a:t>Serve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10122408" y="20482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dirty="0">
                <a:solidFill>
                  <a:srgbClr val="475569"/>
                </a:solidFill>
              </a:rPr>
              <a:t>dashboard / API</a:t>
            </a:r>
            <a:endParaRPr lang="en-US" sz="690" dirty="0"/>
          </a:p>
        </p:txBody>
      </p:sp>
      <p:sp>
        <p:nvSpPr>
          <p:cNvPr id="28" name="Shape 26"/>
          <p:cNvSpPr/>
          <p:nvPr/>
        </p:nvSpPr>
        <p:spPr>
          <a:xfrm>
            <a:off x="822960" y="3675888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F0FDFA"/>
          </a:solidFill>
          <a:ln w="8890">
            <a:solidFill>
              <a:srgbClr val="99F6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15568" y="39136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766E"/>
                </a:solidFill>
              </a:rPr>
              <a:t>Current implementation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15568" y="431596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475569"/>
                </a:solidFill>
              </a:rPr>
              <a:t>Deterministic, inspectable and reproducible. Works locally without paid API keys.</a:t>
            </a:r>
            <a:endParaRPr lang="en-US" sz="1040" dirty="0"/>
          </a:p>
        </p:txBody>
      </p:sp>
      <p:sp>
        <p:nvSpPr>
          <p:cNvPr id="31" name="Shape 29"/>
          <p:cNvSpPr/>
          <p:nvPr/>
        </p:nvSpPr>
        <p:spPr>
          <a:xfrm>
            <a:off x="6217920" y="3675888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889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0528" y="39136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</a:rPr>
              <a:t>Production extension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510528" y="431596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475569"/>
                </a:solidFill>
              </a:rPr>
              <a:t>Separate storage for transcript metadata, embeddings, predictions, examples and human feedback.</a:t>
            </a:r>
            <a:endParaRPr lang="en-US" sz="104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and recommendations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right next step is validation, not over-engineering.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0561320" y="347472"/>
            <a:ext cx="109728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18872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1508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011680"/>
            <a:ext cx="4206240" cy="2423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size is modest; taxonomy should be validated as volume grows.
</a:t>
            </a:r>
            <a:r>
              <a:rPr lang="en-US" sz="10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type is inferred, not explicitly labeled in the source data.
</a:t>
            </a:r>
            <a:r>
              <a:rPr lang="en-US" sz="10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Sentiment is context-sensitive and should be reviewed with transcript evidence.
</a:t>
            </a:r>
            <a:r>
              <a:rPr lang="en-US" sz="10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Rule-based taxonomy is explainable but may miss nuance.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18872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12700" dist="50800" dir="2700000" algn="bl" rotWithShape="0">
              <a:srgbClr val="94A3B8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</a:rPr>
              <a:t>Recommendations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2011680"/>
            <a:ext cx="4206240" cy="2423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the top negative reliability themes with support and engineering.
</a:t>
            </a:r>
            <a:r>
              <a:rPr lang="en-US" sz="10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weekly escalation-risk workflow with clear owners.
</a:t>
            </a:r>
            <a:r>
              <a:rPr lang="en-US" sz="10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feature request mining as PM evidence, not automatic ranking.
</a:t>
            </a:r>
            <a:r>
              <a:rPr lang="en-US" sz="10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stakeholder dashboards around specific team decisions.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8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989320"/>
            <a:ext cx="38404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777240"/>
            <a:ext cx="256032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10241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walkthrough + Q&amp;A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32688" y="207568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8448" y="20574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</a:rPr>
              <a:t>Project structure + raw dataset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32688" y="2606040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8448" y="25877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</a:rPr>
              <a:t>Run pipeline and confirm outputs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32688" y="3136392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311810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</a:rPr>
              <a:t>Open notebook, CSVs and charts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32688" y="3666744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8448" y="364845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</a:rPr>
              <a:t>Explain themes, sentiment trends and additional insights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32688" y="4197096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8448" y="41788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</a:rPr>
              <a:t>Close with productization path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92440" y="4297680"/>
            <a:ext cx="3154680" cy="713232"/>
          </a:xfrm>
          <a:prstGeom prst="roundRect">
            <a:avLst>
              <a:gd name="adj" fmla="val 10256"/>
            </a:avLst>
          </a:prstGeom>
          <a:solidFill>
            <a:srgbClr val="111C32"/>
          </a:solidFill>
          <a:ln w="12700">
            <a:solidFill>
              <a:srgbClr val="2336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45079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59E0B"/>
                </a:solidFill>
              </a:rPr>
              <a:t>Q&amp;A prompt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9098280" y="44622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CBD5E1"/>
                </a:solidFill>
              </a:rPr>
              <a:t>How would you use transcripts to change decisions before problems become obvious?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1879</Words>
  <Application>Microsoft Office PowerPoint</Application>
  <PresentationFormat>Widescreen</PresentationFormat>
  <Paragraphs>301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Transcript Intelligence</dc:title>
  <dc:subject>Transcript Intelligence Take-home Presentation</dc:subject>
  <dc:creator>OpenAI</dc:creator>
  <cp:lastModifiedBy>Vachan Ambati</cp:lastModifiedBy>
  <cp:revision>1</cp:revision>
  <dcterms:created xsi:type="dcterms:W3CDTF">2026-05-07T18:05:23Z</dcterms:created>
  <dcterms:modified xsi:type="dcterms:W3CDTF">2026-05-07T19:22:35Z</dcterms:modified>
</cp:coreProperties>
</file>